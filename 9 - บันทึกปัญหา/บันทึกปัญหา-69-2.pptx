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914400"/>
            <a:ext cx="91440" cy="329184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914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DBDDB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วิทยาลัยศิลปะ สื่อ และเทคโนโลยี  |  มหาวิทยาลัยเชียงใหม่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บันทึกปัญหา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E8751A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กระบวนการจ้างผู้ช่วยสอน (TA)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DDB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ภาคเรียนที่ 2  |  ปีการศึกษา 2569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3886200"/>
            <a:ext cx="3200400" cy="45720"/>
          </a:xfrm>
          <a:prstGeom prst="rect">
            <a:avLst/>
          </a:prstGeom>
          <a:solidFill>
            <a:srgbClr val="4A7BAA"/>
          </a:solidFill>
          <a:ln w="12700">
            <a:solidFill>
              <a:srgbClr val="4A7B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A9CC0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TA CAMT  •  งานบริหารการศึกษา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5120" y="1280160"/>
            <a:ext cx="2103120" cy="2103120"/>
          </a:xfrm>
          <a:prstGeom prst="rect">
            <a:avLst/>
          </a:prstGeom>
          <a:solidFill>
            <a:srgbClr val="E8751A">
              <a:alpha val="12000"/>
            </a:srgbClr>
          </a:solidFill>
          <a:ln w="25400">
            <a:solidFill>
              <a:srgbClr val="E875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4173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8751A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4</a:t>
            </a:r>
            <a:endParaRPr lang="en-US" sz="64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ปัญหาที่พบ</a:t>
            </a:r>
            <a:endParaRPr lang="en-US" sz="6400" dirty="0"/>
          </a:p>
        </p:txBody>
      </p:sp>
      <p:sp>
        <p:nvSpPr>
          <p:cNvPr id="12" name="Shape 10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สรุปปัญหาที่พบ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0233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24128"/>
            <a:ext cx="64008" cy="1737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188720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61872" y="116128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รายการเบิกก่อนวันสั่งจ้าง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66928" y="1819656"/>
            <a:ext cx="3803904" cy="27432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" y="1892808"/>
            <a:ext cx="3895344" cy="777240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911096"/>
            <a:ext cx="3767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ผู้ช่วยสอนเริ่มสอนก่อนออกใบสั่งจ้าง ทำให้เบิกย้อนหลังไม่ได้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24128"/>
            <a:ext cx="40233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24128"/>
            <a:ext cx="64008" cy="173736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28032" y="1188720"/>
            <a:ext cx="502920" cy="502920"/>
          </a:xfrm>
          <a:prstGeom prst="ellipse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68112" y="116128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ใบสั่งจ้างล่าช้า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773168" y="1819656"/>
            <a:ext cx="3803904" cy="27432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27448" y="1892808"/>
            <a:ext cx="3895344" cy="777240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1911096"/>
            <a:ext cx="3767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TOR ต้องแก้ทุกครั้งที่มีการเพิ่ม/ลดวิชา ส่งผลให้กระบวนการล่าช้า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907792"/>
            <a:ext cx="40233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907792"/>
            <a:ext cx="64008" cy="1737360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3072384"/>
            <a:ext cx="502920" cy="502920"/>
          </a:xfrm>
          <a:prstGeom prst="ellipse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072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61872" y="304495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นักศึกษา มช. รับจ้างเหมาไม่ได้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66928" y="3703320"/>
            <a:ext cx="3803904" cy="27432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" y="3776472"/>
            <a:ext cx="3895344" cy="777240"/>
          </a:xfrm>
          <a:prstGeom prst="rect">
            <a:avLst/>
          </a:prstGeom>
          <a:solidFill>
            <a:srgbClr val="FEF9E7"/>
          </a:solidFill>
          <a:ln w="12700">
            <a:solidFill>
              <a:srgbClr val="FEF9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3794760"/>
            <a:ext cx="3767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ส่งผลต่อการวางแผนงบประมาณ ต้องใช้ทุน TA/RA แทนจ้างเหมา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2907792"/>
            <a:ext cx="40233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907792"/>
            <a:ext cx="64008" cy="17373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28032" y="3072384"/>
            <a:ext cx="502920" cy="50292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072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04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68112" y="304495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เบิกไม่ถึงวงเงินสั่งจ้าง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4773168" y="3703320"/>
            <a:ext cx="3803904" cy="27432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27448" y="3776472"/>
            <a:ext cx="3895344" cy="77724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3794760"/>
            <a:ext cx="3767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พัสดุต้องออกเอกสารใหม่สำหรับยอดเงินที่เหลือทุกราย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37160"/>
            <a:ext cx="77724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914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ปัญหารายการเบิกก่อนวันสั่งจ้าง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384048"/>
          </a:xfrm>
          <a:prstGeom prst="rect">
            <a:avLst/>
          </a:prstGeom>
          <a:solidFill>
            <a:srgbClr val="FDECEA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73152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515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สาเหตุของปัญหา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1527048"/>
            <a:ext cx="8412480" cy="548640"/>
          </a:xfrm>
          <a:prstGeom prst="rect">
            <a:avLst/>
          </a:prstGeom>
          <a:solidFill>
            <a:srgbClr val="EBF3FB"/>
          </a:solidFill>
          <a:ln w="6350">
            <a:solidFill>
              <a:srgbClr val="2D6A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1719072"/>
            <a:ext cx="164592" cy="164592"/>
          </a:xfrm>
          <a:prstGeom prst="ellipse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56362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3A5C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ผู้ช่วยสอนเริ่มสอนตั้งแต่เดือน พ.ย. แต่ใบสั่งจ้างออกในเดือน ธ.ค. ทำให้ไม่สามารถเขียนรายการเบิกในเดือน พ.ย. ได้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167128"/>
            <a:ext cx="8412480" cy="548640"/>
          </a:xfrm>
          <a:prstGeom prst="rect">
            <a:avLst/>
          </a:prstGeom>
          <a:solidFill>
            <a:srgbClr val="EBF3FB"/>
          </a:solidFill>
          <a:ln w="6350">
            <a:solidFill>
              <a:srgbClr val="2D6A9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2359152"/>
            <a:ext cx="164592" cy="164592"/>
          </a:xfrm>
          <a:prstGeom prst="ellipse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20370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3A5C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TA CAMT ไม่ได้แจ้งผู้ช่วยสอนถึงข้อจำกัดนี้ และไม่ได้ตรวจสอบข้อจำกัดดังกล่าวในเอกสารเบิกที่ส่งมา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8412480" cy="384048"/>
          </a:xfrm>
          <a:prstGeom prst="rect">
            <a:avLst/>
          </a:prstGeom>
          <a:solidFill>
            <a:srgbClr val="E8F5EE"/>
          </a:solidFill>
          <a:ln w="6350">
            <a:solidFill>
              <a:srgbClr val="1A7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80360"/>
            <a:ext cx="73152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8803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7A4A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การแก้ไขในรอบนี้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65760" y="3355848"/>
            <a:ext cx="8412480" cy="548640"/>
          </a:xfrm>
          <a:prstGeom prst="rect">
            <a:avLst/>
          </a:prstGeom>
          <a:solidFill>
            <a:srgbClr val="E8F5EE"/>
          </a:solidFill>
          <a:ln w="6350">
            <a:solidFill>
              <a:srgbClr val="1A7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3547872"/>
            <a:ext cx="164592" cy="164592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39242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5C38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ย้ายรายการเบิกจากเดือน พ.ย. มาลงในเดือน ธ.ค. แทน โดยข้อมูลการเบิกไม่ตรงตามความเป็นจริง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760" y="4069080"/>
            <a:ext cx="8412480" cy="384048"/>
          </a:xfrm>
          <a:prstGeom prst="rect">
            <a:avLst/>
          </a:prstGeom>
          <a:solidFill>
            <a:srgbClr val="FEF9E7"/>
          </a:solidFill>
          <a:ln w="6350">
            <a:solidFill>
              <a:srgbClr val="D6891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69080"/>
            <a:ext cx="73152" cy="384048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06908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68910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แนวทางป้องกัน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365760" y="4544568"/>
            <a:ext cx="8412480" cy="548640"/>
          </a:xfrm>
          <a:prstGeom prst="rect">
            <a:avLst/>
          </a:prstGeom>
          <a:solidFill>
            <a:srgbClr val="EBF3FB"/>
          </a:solidFill>
          <a:ln w="6350">
            <a:solidFill>
              <a:srgbClr val="2D6A9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736592"/>
            <a:ext cx="164592" cy="164592"/>
          </a:xfrm>
          <a:prstGeom prst="ellipse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58114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3A5C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แจ้งข้อจำกัดวันสั่งจ้างให้ผู้ช่วยสอนทุกรายทราบก่อนเริ่มปฏิบัติงาน และตรวจสอบวันในเอกสารเบิกทุกครั้ง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37160"/>
            <a:ext cx="777240" cy="68580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914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ปัญหาใบสั่งจ้างล่าช้า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384048"/>
          </a:xfrm>
          <a:prstGeom prst="rect">
            <a:avLst/>
          </a:prstGeom>
          <a:solidFill>
            <a:srgbClr val="FDECEA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73152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515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สาเหตุของปัญหา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1527048"/>
            <a:ext cx="8412480" cy="931164"/>
          </a:xfrm>
          <a:prstGeom prst="rect">
            <a:avLst/>
          </a:prstGeom>
          <a:solidFill>
            <a:srgbClr val="EBF3FB"/>
          </a:solidFill>
          <a:ln w="6350">
            <a:solidFill>
              <a:srgbClr val="2D6A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1910334"/>
            <a:ext cx="164592" cy="164592"/>
          </a:xfrm>
          <a:prstGeom prst="ellipse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563624"/>
            <a:ext cx="7863840" cy="85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3A5C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ผู้ช่วยสอนมีการเพิ่มหรือลดวิชา ประกอบกับการทำ TOR แบบ 1 ผู้ช่วยสอน : 1 TOR : 1 สาขาวิชา จึงต้องดึง TOR เดิมกลับมาแก้ไขยอดเงินทุกครั้งที่มีการเปลี่ยนแปลง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622804"/>
            <a:ext cx="8412480" cy="384048"/>
          </a:xfrm>
          <a:prstGeom prst="rect">
            <a:avLst/>
          </a:prstGeom>
          <a:solidFill>
            <a:srgbClr val="E8F5EE"/>
          </a:solidFill>
          <a:ln w="6350">
            <a:solidFill>
              <a:srgbClr val="1A7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622804"/>
            <a:ext cx="73152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62280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7A4A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แนวทางแก้ไขที่ดำเนินการ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65760" y="3098292"/>
            <a:ext cx="8412480" cy="931164"/>
          </a:xfrm>
          <a:prstGeom prst="rect">
            <a:avLst/>
          </a:prstGeom>
          <a:solidFill>
            <a:srgbClr val="E8F5EE"/>
          </a:solidFill>
          <a:ln w="6350">
            <a:solidFill>
              <a:srgbClr val="1A7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3481578"/>
            <a:ext cx="164592" cy="164592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134868"/>
            <a:ext cx="7863840" cy="85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5C38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หารือกับฝ่ายการเงินเพื่อขอปรับรูปแบบ TOR ให้แยกตามระดับ Section แทนการรวม TOR ทั้งหมดในฉบับเดียว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4120896"/>
            <a:ext cx="8412480" cy="931164"/>
          </a:xfrm>
          <a:prstGeom prst="rect">
            <a:avLst/>
          </a:prstGeom>
          <a:solidFill>
            <a:srgbClr val="E8F5EE"/>
          </a:solidFill>
          <a:ln w="6350">
            <a:solidFill>
              <a:srgbClr val="1A7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4504182"/>
            <a:ext cx="164592" cy="164592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4157472"/>
            <a:ext cx="7863840" cy="85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5C38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จะส่ง TOR ทีละฉบับเมื่อเอกสารแต่ละฉบับเสร็จสมบูรณ์ โดยไม่ต้องรอรวมทั้งหมดก่อนส่ง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37160"/>
            <a:ext cx="777240" cy="685800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914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ปัญหานักศึกษา มช. ไม่สามารถรับงานจ้างเหมา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384048"/>
          </a:xfrm>
          <a:prstGeom prst="rect">
            <a:avLst/>
          </a:prstGeom>
          <a:solidFill>
            <a:srgbClr val="FDECEA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73152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515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ผลกระทบที่เกิดขึ้น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1527048"/>
            <a:ext cx="8412480" cy="931164"/>
          </a:xfrm>
          <a:prstGeom prst="rect">
            <a:avLst/>
          </a:prstGeom>
          <a:solidFill>
            <a:srgbClr val="EBF3FB"/>
          </a:solidFill>
          <a:ln w="6350">
            <a:solidFill>
              <a:srgbClr val="2D6A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1910334"/>
            <a:ext cx="164592" cy="164592"/>
          </a:xfrm>
          <a:prstGeom prst="ellipse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563624"/>
            <a:ext cx="7863840" cy="85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3A5C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นักศึกษาที่ยังเรียนอยู่ในมหาวิทยาลัยเชียงใหม่ไม่สามารถรับงานในลักษณะจ้างเหมาได้ตามระเบียบ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549652"/>
            <a:ext cx="8412480" cy="931164"/>
          </a:xfrm>
          <a:prstGeom prst="rect">
            <a:avLst/>
          </a:prstGeom>
          <a:solidFill>
            <a:srgbClr val="EBF3FB"/>
          </a:solidFill>
          <a:ln w="6350">
            <a:solidFill>
              <a:srgbClr val="2D6A9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2932938"/>
            <a:ext cx="164592" cy="164592"/>
          </a:xfrm>
          <a:prstGeom prst="ellipse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586228"/>
            <a:ext cx="7863840" cy="85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3A5C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ส่งผลกระทบต่อการวางแผนงบประมาณ โดยต้องเปลี่ยนแนวทางจากจ้างเหมาไปใช้ทุน TA/RA แทน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3645408"/>
            <a:ext cx="8412480" cy="384048"/>
          </a:xfrm>
          <a:prstGeom prst="rect">
            <a:avLst/>
          </a:prstGeom>
          <a:solidFill>
            <a:srgbClr val="E8F5EE"/>
          </a:solidFill>
          <a:ln w="6350">
            <a:solidFill>
              <a:srgbClr val="1A7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45408"/>
            <a:ext cx="73152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6454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7A4A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แนวทางแก้ไข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65760" y="4120896"/>
            <a:ext cx="8412480" cy="931164"/>
          </a:xfrm>
          <a:prstGeom prst="rect">
            <a:avLst/>
          </a:prstGeom>
          <a:solidFill>
            <a:srgbClr val="E8F5EE"/>
          </a:solidFill>
          <a:ln w="6350">
            <a:solidFill>
              <a:srgbClr val="1A7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4504182"/>
            <a:ext cx="164592" cy="164592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4157472"/>
            <a:ext cx="7863840" cy="858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5C38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การประกาศรับสมัครทุนสามารถระบุจำนวนตำแหน่งมากกว่าที่จะรับจริงได้ เพื่อเพิ่มความยืดหยุ่นในการบริหารจัดการ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37160"/>
            <a:ext cx="777240" cy="6858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914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ปัญหาเบิกเงินไม่ถึงวงเงินสั่งจ้าง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384048"/>
          </a:xfrm>
          <a:prstGeom prst="rect">
            <a:avLst/>
          </a:prstGeom>
          <a:solidFill>
            <a:srgbClr val="FDECEA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73152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515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สาเหตุของปัญหา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1527048"/>
            <a:ext cx="8412480" cy="748284"/>
          </a:xfrm>
          <a:prstGeom prst="rect">
            <a:avLst/>
          </a:prstGeom>
          <a:solidFill>
            <a:srgbClr val="EBF3FB"/>
          </a:solidFill>
          <a:ln w="6350">
            <a:solidFill>
              <a:srgbClr val="2D6A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1818894"/>
            <a:ext cx="164592" cy="164592"/>
          </a:xfrm>
          <a:prstGeom prst="ellipse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563624"/>
            <a:ext cx="7863840" cy="675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3A5C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ผู้ช่วยสอนบางรายปฏิบัติงานไม่ครบตามชั่วโมงที่กำหนดในสัญญาจ้าง ทำให้ยอดเบิกจริงต่ำกว่าวงเงินสั่งจ้างที่ระบุไว้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439924"/>
            <a:ext cx="8412480" cy="384048"/>
          </a:xfrm>
          <a:prstGeom prst="rect">
            <a:avLst/>
          </a:prstGeom>
          <a:solidFill>
            <a:srgbClr val="FEF9E7"/>
          </a:solidFill>
          <a:ln w="6350">
            <a:solidFill>
              <a:srgbClr val="D6891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439924"/>
            <a:ext cx="73152" cy="384048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43992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68910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กระบวนการที่ต้องดำเนินการ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65760" y="2915412"/>
            <a:ext cx="8412480" cy="748284"/>
          </a:xfrm>
          <a:prstGeom prst="rect">
            <a:avLst/>
          </a:prstGeom>
          <a:solidFill>
            <a:srgbClr val="EBF3FB"/>
          </a:solidFill>
          <a:ln w="6350">
            <a:solidFill>
              <a:srgbClr val="2D6A9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3207258"/>
            <a:ext cx="164592" cy="164592"/>
          </a:xfrm>
          <a:prstGeom prst="ellipse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951988"/>
            <a:ext cx="7863840" cy="675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3A5C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ฝ่ายพัสดุต้องดำเนินการออกเอกสารเพื่อออกใบสั่งจ้างฉบับใหม่ครอบคลุมยอดเงินส่วนที่เหลือ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3828288"/>
            <a:ext cx="8412480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2D6A9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828288"/>
            <a:ext cx="73152" cy="384048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82828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D6A9F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แนวทางป้องกัน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65760" y="4303776"/>
            <a:ext cx="8412480" cy="748284"/>
          </a:xfrm>
          <a:prstGeom prst="rect">
            <a:avLst/>
          </a:prstGeom>
          <a:solidFill>
            <a:srgbClr val="EBF3FB"/>
          </a:solidFill>
          <a:ln w="6350">
            <a:solidFill>
              <a:srgbClr val="2D6A9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4595622"/>
            <a:ext cx="164592" cy="164592"/>
          </a:xfrm>
          <a:prstGeom prst="ellipse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340352"/>
            <a:ext cx="7863840" cy="675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3A5C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กำหนดแนวทางการติดตามชั่วโมงการทำงานให้ชัดเจน และแจ้งเตือนกรณีใกล้สิ้นสุดระยะเวลาสัญญา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751A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ข้อเสนอแนะเพิ่มเติม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922401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6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73152" cy="922401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868680"/>
            <a:ext cx="365760" cy="922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751A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905256"/>
            <a:ext cx="7543800" cy="849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จัดทำ Checklist ตรวจสอบเงื่อนไขก่อนเริ่มปฏิบัติงาน เพื่อป้องกันปัญหาการเบิกก่อนวันสั่งจ้าง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882521"/>
            <a:ext cx="8229600" cy="922401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6A9C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82521"/>
            <a:ext cx="73152" cy="922401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882521"/>
            <a:ext cx="365760" cy="922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751A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1919097"/>
            <a:ext cx="7543800" cy="849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ปรับรูปแบบ TOR ให้แยกตาม Section เพื่อลดขั้นตอนการแก้ไขเอกสารซ้ำและเร่งกระบวนการสั่งจ้าง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896362"/>
            <a:ext cx="8229600" cy="922401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6A9C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96362"/>
            <a:ext cx="73152" cy="922401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896362"/>
            <a:ext cx="365760" cy="922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751A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2932938"/>
            <a:ext cx="7543800" cy="849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สื่อสารข้อจำกัดด้านสิทธิ์การรับจ้างให้ผู้ช่วยสอนและผู้เกี่ยวข้องทราบล่วงหน้าทุกภาคเรียน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910203"/>
            <a:ext cx="8229600" cy="922401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6A9C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910203"/>
            <a:ext cx="73152" cy="922401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910203"/>
            <a:ext cx="365760" cy="922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751A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3946779"/>
            <a:ext cx="7543800" cy="849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ngsana New" pitchFamily="34" charset="0"/>
                <a:ea typeface="Angsana New" pitchFamily="34" charset="-122"/>
                <a:cs typeface="Angsana New" pitchFamily="34" charset="-120"/>
              </a:rPr>
              <a:t>กำหนดแนวทางรองรับกรณีเบิกไม่ครบวงเงินสั่งจ้างให้ชัดเจน เพื่อลดภาระงานเอกสารซ้ำ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บันทึกปัญหา ภาคเรียนที่ 2 ปีการศึกษา 2569</dc:title>
  <dc:subject>PptxGenJS Presentation</dc:subject>
  <dc:creator>PptxGenJS</dc:creator>
  <cp:lastModifiedBy>PptxGenJS</cp:lastModifiedBy>
  <cp:revision>1</cp:revision>
  <dcterms:created xsi:type="dcterms:W3CDTF">2026-05-21T03:32:06Z</dcterms:created>
  <dcterms:modified xsi:type="dcterms:W3CDTF">2026-05-21T03:32:06Z</dcterms:modified>
</cp:coreProperties>
</file>